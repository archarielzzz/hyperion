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27E9D-B2A9-4C1C-B653-A39764DF33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5402FC-3773-4FE1-9C46-1B6CE735F4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D0B6A-5D80-4667-B26D-6D0DF8168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AD402-BD34-4D84-90E5-A10A4E95028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49F0E-E6DB-478A-8994-78D769C75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02841-A824-41DF-B503-4A8EA1A36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5C2D7-CECF-4999-BB8F-0D99EE23F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511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C1C93-122F-4B0C-9272-CB4A1292D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CEFE9-B9F9-4AC3-B898-3DA4BA068C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D6C103-569F-41ED-9BDB-8830014CB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AD402-BD34-4D84-90E5-A10A4E95028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4FF3E-E1A9-4FBF-9D71-9D91A2BCF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CB814-92AB-46DB-AE31-02C682A50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5C2D7-CECF-4999-BB8F-0D99EE23F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326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833F0-F77E-46AA-B711-C0AAE09C7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3CB6DB-9884-4E5E-8128-0722B4D9C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441CB-943C-482E-9FE5-798584770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AD402-BD34-4D84-90E5-A10A4E95028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413295-F53A-4457-A927-79648CF3D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A536E-D3E6-49FD-A68F-30561AF88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5C2D7-CECF-4999-BB8F-0D99EE23F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66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FAF90-0A0A-4DDC-8E16-F418F6E97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033C0-2421-4F0E-B186-011950E6C6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18C0AA-C59D-4DEA-82A7-D7260C69A2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271CDC-C2DD-4AF1-821D-291540ADD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AD402-BD34-4D84-90E5-A10A4E95028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E0A22E-32A7-4978-8E4E-B646C71A0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1C6004-7FF3-4E8F-8859-0F1C64B49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5C2D7-CECF-4999-BB8F-0D99EE23F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573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7E642-5C78-4450-9F6B-3703B975E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0BBF06-3935-4BF1-9DF7-FB592434C7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9D476A-8967-48C7-9272-2882DE5E97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F79F10-2B9C-4500-9E28-37C855F41D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49BC8E-FE06-459C-83C2-5B2658B0E7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392A56-3AEE-403D-A830-F7871A9AF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AD402-BD34-4D84-90E5-A10A4E95028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8AA071-5184-40D0-826E-56DBEDD60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289E1D-3362-4213-B592-F097F355F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5C2D7-CECF-4999-BB8F-0D99EE23F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763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8E253-7617-4C9C-9FCA-6B4E3A272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FB29D6-34BB-4AD5-A6F7-7731A3236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AD402-BD34-4D84-90E5-A10A4E95028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8C2179-AC05-4B0D-BD1C-608755E85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17927A-8360-41A8-AA84-B4D65E35B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5C2D7-CECF-4999-BB8F-0D99EE23F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595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B50226-90AF-4EC9-B089-35BB9781B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AD402-BD34-4D84-90E5-A10A4E95028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A9D20E-9989-4D14-8D23-CA1D14372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6C73F2-EC69-4E94-AAA0-4FC63E1C1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5C2D7-CECF-4999-BB8F-0D99EE23F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467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9962E-C45E-484D-898B-FA17871A4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2380-3465-48A2-9241-6FC52106D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F9C163-0171-4D77-9209-80223977AD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093ACC-FFAE-4D0F-B813-8C7A3FEF5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AD402-BD34-4D84-90E5-A10A4E95028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89F81A-68E8-4F93-BF4E-4C67B1B48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3C17A9-FD86-4D90-9F03-4668D8028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5C2D7-CECF-4999-BB8F-0D99EE23F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820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C6A31-C61E-4D66-8E1F-0152BB1E1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D4F3B3-F510-48F5-9C2C-C8A88E64AC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59D1AA-54AB-4C27-AAEE-E147ED269A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BF5B5D-7811-45C8-AEA4-FEE26D0F5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AD402-BD34-4D84-90E5-A10A4E95028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E068CF-7CA7-41F8-9924-1E386484B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ADA57E-3B41-4738-9A78-8511C20D3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5C2D7-CECF-4999-BB8F-0D99EE23F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550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DDABA-B77F-436C-BE23-1CB5D8928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679D85-1C19-4B22-9C38-C066BDE586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572A81-3EDC-48B6-8E26-995B7EE58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AD402-BD34-4D84-90E5-A10A4E95028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0386E-5EE5-4896-887C-56ACE5045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00C6C-03F8-4A8F-AD88-34AEF232B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5C2D7-CECF-4999-BB8F-0D99EE23F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522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051146-7EF5-4B42-A952-D5FEF0A131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31AD74-E726-45EA-B36D-149EFE85D8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B14A7A-92B8-4277-8426-D7A5F67FE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AD402-BD34-4D84-90E5-A10A4E95028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206AB-3514-46A8-872D-902CC8BBC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FCF7E4-C5EC-4D78-9592-F01ABE0A4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5C2D7-CECF-4999-BB8F-0D99EE23F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813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F03D88-C782-45C3-986A-2865BCB2D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0478AD-8C64-4C2B-9426-4DD8D9CFE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B0960E-9DAB-4883-8DDA-A9F7B52170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6AD402-BD34-4D84-90E5-A10A4E95028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B3733F-F59E-4175-8458-2AE9257485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E0226-81EF-4F43-AEA4-B0304F39DB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65C2D7-CECF-4999-BB8F-0D99EE23F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675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7EE652-01BB-4AAC-AADA-9D91731BCBD1}"/>
              </a:ext>
            </a:extLst>
          </p:cNvPr>
          <p:cNvSpPr txBox="1"/>
          <p:nvPr/>
        </p:nvSpPr>
        <p:spPr>
          <a:xfrm>
            <a:off x="5823833" y="201031"/>
            <a:ext cx="8747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b="1" dirty="0"/>
              <a:t>Tracker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037835-82DA-49C7-BD0F-7FC3ED1AAB10}"/>
              </a:ext>
            </a:extLst>
          </p:cNvPr>
          <p:cNvSpPr txBox="1"/>
          <p:nvPr/>
        </p:nvSpPr>
        <p:spPr>
          <a:xfrm>
            <a:off x="3586579" y="1731146"/>
            <a:ext cx="543103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de-DE" dirty="0"/>
              <a:t>Arkham </a:t>
            </a:r>
            <a:r>
              <a:rPr lang="de-DE" dirty="0" err="1"/>
              <a:t>Intelligence</a:t>
            </a:r>
            <a:endParaRPr lang="de-DE" dirty="0"/>
          </a:p>
          <a:p>
            <a:pPr marL="342900" indent="-342900">
              <a:buAutoNum type="arabicPeriod"/>
            </a:pPr>
            <a:r>
              <a:rPr lang="de-DE" dirty="0"/>
              <a:t>E</a:t>
            </a:r>
            <a:r>
              <a:rPr lang="en-US" dirty="0" err="1"/>
              <a:t>therscan</a:t>
            </a:r>
            <a:r>
              <a:rPr lang="en-US" dirty="0"/>
              <a:t>/</a:t>
            </a:r>
            <a:r>
              <a:rPr lang="en-US" dirty="0" err="1"/>
              <a:t>Bscscan</a:t>
            </a:r>
            <a:r>
              <a:rPr lang="en-US" dirty="0"/>
              <a:t>/</a:t>
            </a:r>
            <a:r>
              <a:rPr lang="en-US" dirty="0" err="1"/>
              <a:t>tronscan</a:t>
            </a:r>
            <a:r>
              <a:rPr lang="en-US" dirty="0"/>
              <a:t>/</a:t>
            </a:r>
            <a:r>
              <a:rPr lang="en-US" dirty="0" err="1"/>
              <a:t>solscan</a:t>
            </a:r>
            <a:r>
              <a:rPr lang="en-US" dirty="0"/>
              <a:t> (je chain)</a:t>
            </a:r>
          </a:p>
          <a:p>
            <a:pPr marL="342900" indent="-342900">
              <a:buAutoNum type="arabicPeriod"/>
            </a:pPr>
            <a:r>
              <a:rPr lang="de-DE" dirty="0"/>
              <a:t>O</a:t>
            </a:r>
            <a:r>
              <a:rPr lang="en-US" dirty="0" err="1"/>
              <a:t>ffizielle</a:t>
            </a:r>
            <a:r>
              <a:rPr lang="en-US" dirty="0"/>
              <a:t> Exchange-proof-of-reserves</a:t>
            </a:r>
          </a:p>
          <a:p>
            <a:pPr marL="342900" indent="-342900">
              <a:buAutoNum type="arabicPeriod"/>
            </a:pPr>
            <a:r>
              <a:rPr lang="de-DE" dirty="0"/>
              <a:t>D</a:t>
            </a:r>
            <a:r>
              <a:rPr lang="en-US" dirty="0" err="1"/>
              <a:t>une</a:t>
            </a:r>
            <a:r>
              <a:rPr lang="en-US" dirty="0"/>
              <a:t> (community dashboards)</a:t>
            </a:r>
          </a:p>
          <a:p>
            <a:pPr marL="342900" indent="-342900">
              <a:buAutoNum type="arabicPeriod"/>
            </a:pPr>
            <a:r>
              <a:rPr lang="de-DE" dirty="0"/>
              <a:t>D</a:t>
            </a:r>
            <a:r>
              <a:rPr lang="en-US" dirty="0" err="1"/>
              <a:t>efiLlama</a:t>
            </a:r>
            <a:r>
              <a:rPr lang="en-US" dirty="0"/>
              <a:t> (CEX </a:t>
            </a:r>
            <a:r>
              <a:rPr lang="en-US" dirty="0" err="1"/>
              <a:t>transperancy</a:t>
            </a:r>
            <a:r>
              <a:rPr lang="en-US" dirty="0"/>
              <a:t> / Reserve-</a:t>
            </a:r>
            <a:r>
              <a:rPr lang="en-US" dirty="0" err="1"/>
              <a:t>Übersichten</a:t>
            </a:r>
            <a:r>
              <a:rPr lang="en-US" dirty="0"/>
              <a:t>)</a:t>
            </a:r>
            <a:endParaRPr lang="de-D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6A98E7-8F5B-4343-AC4F-9A721ED6230C}"/>
              </a:ext>
            </a:extLst>
          </p:cNvPr>
          <p:cNvSpPr txBox="1"/>
          <p:nvPr/>
        </p:nvSpPr>
        <p:spPr>
          <a:xfrm>
            <a:off x="2675689" y="711069"/>
            <a:ext cx="6155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CEX = Börse intern Omnibus-</a:t>
            </a:r>
            <a:r>
              <a:rPr lang="de-DE" dirty="0" err="1"/>
              <a:t>Wallets</a:t>
            </a:r>
            <a:r>
              <a:rPr lang="de-DE" dirty="0"/>
              <a:t>(Hot/Cold) + interne Ledger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C4056E-34DF-401F-A860-C764F113D3AB}"/>
              </a:ext>
            </a:extLst>
          </p:cNvPr>
          <p:cNvSpPr txBox="1"/>
          <p:nvPr/>
        </p:nvSpPr>
        <p:spPr>
          <a:xfrm>
            <a:off x="3847542" y="3691348"/>
            <a:ext cx="655442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de-DE" dirty="0"/>
              <a:t>Market-Trades/</a:t>
            </a:r>
            <a:r>
              <a:rPr lang="de-DE" dirty="0" err="1"/>
              <a:t>Orderbook</a:t>
            </a:r>
            <a:r>
              <a:rPr lang="de-DE" dirty="0"/>
              <a:t> live</a:t>
            </a:r>
          </a:p>
          <a:p>
            <a:pPr marL="342900" indent="-342900">
              <a:buAutoNum type="arabicPeriod"/>
            </a:pPr>
            <a:r>
              <a:rPr lang="de-DE" dirty="0"/>
              <a:t>Eigene Trades (User-Data Streams)</a:t>
            </a:r>
          </a:p>
          <a:p>
            <a:pPr marL="342900" indent="-342900">
              <a:buAutoNum type="arabicPeriod"/>
            </a:pPr>
            <a:r>
              <a:rPr lang="de-DE" dirty="0"/>
              <a:t>Exchange-wallet-</a:t>
            </a:r>
            <a:r>
              <a:rPr lang="de-DE" dirty="0" err="1"/>
              <a:t>flows</a:t>
            </a:r>
            <a:r>
              <a:rPr lang="de-DE" dirty="0"/>
              <a:t> on-</a:t>
            </a:r>
            <a:r>
              <a:rPr lang="de-DE" dirty="0" err="1"/>
              <a:t>chain</a:t>
            </a:r>
            <a:r>
              <a:rPr lang="de-DE" dirty="0"/>
              <a:t> (</a:t>
            </a:r>
            <a:r>
              <a:rPr lang="de-DE" dirty="0" err="1"/>
              <a:t>Deposits</a:t>
            </a:r>
            <a:r>
              <a:rPr lang="de-DE" dirty="0"/>
              <a:t>/</a:t>
            </a:r>
            <a:r>
              <a:rPr lang="de-DE" dirty="0" err="1"/>
              <a:t>Withdraws</a:t>
            </a:r>
            <a:r>
              <a:rPr lang="de-DE" dirty="0"/>
              <a:t> der Börse)</a:t>
            </a:r>
          </a:p>
          <a:p>
            <a:pPr marL="342900" indent="-342900">
              <a:buAutoNum type="arabicPeriod"/>
            </a:pPr>
            <a:r>
              <a:rPr lang="de-DE" dirty="0"/>
              <a:t>Indirekte Heuristiken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9150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06C39AE-6361-4682-83C6-9F416B7655BC}"/>
              </a:ext>
            </a:extLst>
          </p:cNvPr>
          <p:cNvSpPr txBox="1"/>
          <p:nvPr/>
        </p:nvSpPr>
        <p:spPr>
          <a:xfrm>
            <a:off x="4754732" y="168675"/>
            <a:ext cx="2682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dirty="0"/>
              <a:t>1. Schritt: </a:t>
            </a:r>
            <a:r>
              <a:rPr lang="de-DE" b="1" dirty="0" err="1"/>
              <a:t>Wallets</a:t>
            </a:r>
            <a:r>
              <a:rPr lang="de-DE" b="1" dirty="0"/>
              <a:t> tracken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9E93ED-2CB6-4DC2-8698-5A945C9BA91C}"/>
              </a:ext>
            </a:extLst>
          </p:cNvPr>
          <p:cNvSpPr txBox="1"/>
          <p:nvPr/>
        </p:nvSpPr>
        <p:spPr>
          <a:xfrm>
            <a:off x="1832317" y="1487668"/>
            <a:ext cx="888303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(A) CEX‑User‑</a:t>
            </a:r>
            <a:r>
              <a:rPr lang="de-DE" dirty="0" err="1"/>
              <a:t>Wallets</a:t>
            </a:r>
            <a:r>
              <a:rPr lang="de-DE" dirty="0"/>
              <a:t>/Trades innerhalb der Börse → geht kostenlos nicht, weil intern</a:t>
            </a:r>
          </a:p>
          <a:p>
            <a:r>
              <a:rPr lang="de-DE" dirty="0"/>
              <a:t>(B) </a:t>
            </a:r>
            <a:r>
              <a:rPr lang="en-US" dirty="0"/>
              <a:t>Exchange‑Wallets on-chain (Hot/Cold Wallets von </a:t>
            </a:r>
            <a:r>
              <a:rPr lang="en-US" dirty="0" err="1"/>
              <a:t>Binance</a:t>
            </a:r>
            <a:r>
              <a:rPr lang="en-US" dirty="0"/>
              <a:t>/OKX/</a:t>
            </a:r>
            <a:r>
              <a:rPr lang="en-US" dirty="0" err="1"/>
              <a:t>Bybit</a:t>
            </a:r>
            <a:r>
              <a:rPr lang="en-US" dirty="0"/>
              <a:t> etc.) → </a:t>
            </a:r>
            <a:r>
              <a:rPr lang="en-US" dirty="0" err="1"/>
              <a:t>geht</a:t>
            </a:r>
            <a:r>
              <a:rPr lang="en-US" dirty="0"/>
              <a:t> </a:t>
            </a:r>
            <a:r>
              <a:rPr lang="en-US" dirty="0" err="1"/>
              <a:t>sehr</a:t>
            </a:r>
            <a:r>
              <a:rPr lang="en-US" dirty="0"/>
              <a:t>        gut </a:t>
            </a:r>
            <a:r>
              <a:rPr lang="en-US" dirty="0" err="1"/>
              <a:t>kostenlos</a:t>
            </a:r>
            <a:r>
              <a:rPr lang="en-US" dirty="0"/>
              <a:t> </a:t>
            </a:r>
            <a:r>
              <a:rPr lang="en-US" dirty="0" err="1"/>
              <a:t>über</a:t>
            </a:r>
            <a:r>
              <a:rPr lang="en-US" dirty="0"/>
              <a:t> Explorer/APIs + Labels.</a:t>
            </a:r>
            <a:endParaRPr lang="de-DE" dirty="0"/>
          </a:p>
          <a:p>
            <a:r>
              <a:rPr lang="de-DE" dirty="0"/>
              <a:t>(C) “</a:t>
            </a:r>
            <a:r>
              <a:rPr lang="de-DE" dirty="0" err="1"/>
              <a:t>Whales</a:t>
            </a:r>
            <a:r>
              <a:rPr lang="de-DE" dirty="0"/>
              <a:t>”/Market Maker </a:t>
            </a:r>
            <a:r>
              <a:rPr lang="de-DE" dirty="0" err="1"/>
              <a:t>Wallets</a:t>
            </a:r>
            <a:r>
              <a:rPr lang="de-DE" dirty="0"/>
              <a:t> on-</a:t>
            </a:r>
            <a:r>
              <a:rPr lang="de-DE" dirty="0" err="1"/>
              <a:t>chain</a:t>
            </a:r>
            <a:r>
              <a:rPr lang="de-DE" dirty="0"/>
              <a:t> → geht teilweise kostenlos, aber Labels sind schwieriger.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0475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6F71343-EA45-4850-AC0C-0951E5683101}"/>
              </a:ext>
            </a:extLst>
          </p:cNvPr>
          <p:cNvSpPr txBox="1"/>
          <p:nvPr/>
        </p:nvSpPr>
        <p:spPr>
          <a:xfrm>
            <a:off x="5434601" y="257451"/>
            <a:ext cx="1342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(B) on-</a:t>
            </a:r>
            <a:r>
              <a:rPr lang="de-DE" b="1" dirty="0" err="1"/>
              <a:t>chain</a:t>
            </a: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5C06B6-8761-4884-BFFC-A9BC62A52F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859" y="1455937"/>
            <a:ext cx="3881326" cy="22358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9236AE-F813-472D-BC87-9D2C46C762A8}"/>
              </a:ext>
            </a:extLst>
          </p:cNvPr>
          <p:cNvSpPr txBox="1"/>
          <p:nvPr/>
        </p:nvSpPr>
        <p:spPr>
          <a:xfrm>
            <a:off x="1908699" y="991423"/>
            <a:ext cx="1920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Wichtige Info Tafel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A39617-E99E-4B90-8448-2009B5455B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1904" y="855876"/>
            <a:ext cx="3916507" cy="23440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34209EB-9367-4BCE-B962-A8F6BEFC88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0824" y="3429000"/>
            <a:ext cx="3233680" cy="326687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3763312-B1AD-4773-978C-CE1165785D0F}"/>
              </a:ext>
            </a:extLst>
          </p:cNvPr>
          <p:cNvSpPr txBox="1"/>
          <p:nvPr/>
        </p:nvSpPr>
        <p:spPr>
          <a:xfrm>
            <a:off x="532661" y="4693105"/>
            <a:ext cx="4212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Tip</a:t>
            </a:r>
            <a:r>
              <a:rPr lang="de-DE" dirty="0"/>
              <a:t>: fange mit EVM (größte und einfachste)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621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BC949E-8E0B-4C1C-9FFF-B6C3DBAB9C03}"/>
              </a:ext>
            </a:extLst>
          </p:cNvPr>
          <p:cNvSpPr txBox="1"/>
          <p:nvPr/>
        </p:nvSpPr>
        <p:spPr>
          <a:xfrm>
            <a:off x="5057126" y="221941"/>
            <a:ext cx="2118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Multi </a:t>
            </a:r>
            <a:r>
              <a:rPr lang="de-DE" b="1" dirty="0" err="1"/>
              <a:t>chain</a:t>
            </a:r>
            <a:r>
              <a:rPr lang="de-DE" b="1" dirty="0"/>
              <a:t> </a:t>
            </a:r>
            <a:r>
              <a:rPr lang="de-DE" b="1" dirty="0" err="1"/>
              <a:t>explorer</a:t>
            </a:r>
            <a:endParaRPr lang="de-DE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8C45AA-C44A-41AE-B245-051114887B2C}"/>
              </a:ext>
            </a:extLst>
          </p:cNvPr>
          <p:cNvSpPr txBox="1"/>
          <p:nvPr/>
        </p:nvSpPr>
        <p:spPr>
          <a:xfrm>
            <a:off x="2882460" y="600150"/>
            <a:ext cx="6427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- Um nicht für jede </a:t>
            </a:r>
            <a:r>
              <a:rPr lang="de-DE" dirty="0" err="1"/>
              <a:t>chain</a:t>
            </a:r>
            <a:r>
              <a:rPr lang="de-DE" dirty="0"/>
              <a:t> eigenen </a:t>
            </a:r>
            <a:r>
              <a:rPr lang="de-DE" dirty="0" err="1"/>
              <a:t>explorer</a:t>
            </a:r>
            <a:r>
              <a:rPr lang="de-DE" dirty="0"/>
              <a:t> und </a:t>
            </a:r>
            <a:r>
              <a:rPr lang="de-DE" dirty="0" err="1"/>
              <a:t>account</a:t>
            </a:r>
            <a:r>
              <a:rPr lang="de-DE" dirty="0"/>
              <a:t> zu machen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808448-95CB-4FCD-8BE8-536E71227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980" y="1117848"/>
            <a:ext cx="5186039" cy="259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96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858FABF-F566-4DB5-9166-273AC2928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20" y="798212"/>
            <a:ext cx="3409026" cy="24600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46D162D-EEDD-47F7-BF8F-D52FF896FEE7}"/>
              </a:ext>
            </a:extLst>
          </p:cNvPr>
          <p:cNvSpPr txBox="1"/>
          <p:nvPr/>
        </p:nvSpPr>
        <p:spPr>
          <a:xfrm>
            <a:off x="864505" y="227417"/>
            <a:ext cx="2451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SOL-Blockchain-Tracken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7F45C6-D235-466B-B9F6-B745C37656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9814" y="646651"/>
            <a:ext cx="2886031" cy="29149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2F23A6C-1E05-419A-9D02-FA30EA84B93D}"/>
              </a:ext>
            </a:extLst>
          </p:cNvPr>
          <p:cNvSpPr txBox="1"/>
          <p:nvPr/>
        </p:nvSpPr>
        <p:spPr>
          <a:xfrm>
            <a:off x="9918912" y="227417"/>
            <a:ext cx="1743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Nur-BTC-Tracken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C4D9D4-0EED-4241-83AE-099364619E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8218" y="888747"/>
            <a:ext cx="4534968" cy="212606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9C47D66-B1CC-4339-86F5-7193314F6263}"/>
              </a:ext>
            </a:extLst>
          </p:cNvPr>
          <p:cNvSpPr txBox="1"/>
          <p:nvPr/>
        </p:nvSpPr>
        <p:spPr>
          <a:xfrm>
            <a:off x="5775659" y="361036"/>
            <a:ext cx="1802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TRON- WARUM? 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BD253F2-E53C-48FB-AC3E-BDFF14E40E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1304" y="4171074"/>
            <a:ext cx="4856085" cy="241954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BDB50D1-ADF9-40B6-8221-4BA673AC7280}"/>
              </a:ext>
            </a:extLst>
          </p:cNvPr>
          <p:cNvSpPr txBox="1"/>
          <p:nvPr/>
        </p:nvSpPr>
        <p:spPr>
          <a:xfrm>
            <a:off x="5482328" y="3658524"/>
            <a:ext cx="187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Gesamt-Übersicht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7313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A96090F-69EA-44DF-8D18-B8FBB3CC9377}"/>
              </a:ext>
            </a:extLst>
          </p:cNvPr>
          <p:cNvSpPr txBox="1"/>
          <p:nvPr/>
        </p:nvSpPr>
        <p:spPr>
          <a:xfrm>
            <a:off x="1506249" y="1512848"/>
            <a:ext cx="9179501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9900" dirty="0"/>
              <a:t>APIs </a:t>
            </a:r>
            <a:r>
              <a:rPr lang="de-DE" sz="19900" dirty="0" err="1"/>
              <a:t>info</a:t>
            </a:r>
            <a:endParaRPr lang="en-US" sz="19900" dirty="0"/>
          </a:p>
        </p:txBody>
      </p:sp>
    </p:spTree>
    <p:extLst>
      <p:ext uri="{BB962C8B-B14F-4D97-AF65-F5344CB8AC3E}">
        <p14:creationId xmlns:p14="http://schemas.microsoft.com/office/powerpoint/2010/main" val="2066145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9A8C2A-502A-4F14-B75D-B3918AB55D8F}"/>
              </a:ext>
            </a:extLst>
          </p:cNvPr>
          <p:cNvSpPr txBox="1"/>
          <p:nvPr/>
        </p:nvSpPr>
        <p:spPr>
          <a:xfrm>
            <a:off x="641943" y="97655"/>
            <a:ext cx="37034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Mempool.space</a:t>
            </a:r>
            <a:r>
              <a:rPr lang="de-DE" dirty="0"/>
              <a:t>: REST</a:t>
            </a:r>
            <a:br>
              <a:rPr lang="de-DE" dirty="0"/>
            </a:br>
            <a:r>
              <a:rPr lang="de-DE" dirty="0"/>
              <a:t>(keine KEY)=direkte anfrage an Server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84EC13-52E4-4320-AF53-3F93BF5A5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426" y="830062"/>
            <a:ext cx="4633469" cy="50735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5476B3-B0DE-4E32-8670-4F811C849511}"/>
              </a:ext>
            </a:extLst>
          </p:cNvPr>
          <p:cNvSpPr txBox="1"/>
          <p:nvPr/>
        </p:nvSpPr>
        <p:spPr>
          <a:xfrm>
            <a:off x="5874924" y="120759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Helius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A30DCA-E355-4A3A-B479-DD6B570077EC}"/>
              </a:ext>
            </a:extLst>
          </p:cNvPr>
          <p:cNvSpPr txBox="1"/>
          <p:nvPr/>
        </p:nvSpPr>
        <p:spPr>
          <a:xfrm>
            <a:off x="8398654" y="120759"/>
            <a:ext cx="1102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Etherscan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8012BE-0D1E-4A4D-9858-709C61208607}"/>
              </a:ext>
            </a:extLst>
          </p:cNvPr>
          <p:cNvSpPr txBox="1"/>
          <p:nvPr/>
        </p:nvSpPr>
        <p:spPr>
          <a:xfrm>
            <a:off x="10176560" y="125822"/>
            <a:ext cx="966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Trongrid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630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5F924DA-0DB8-4F87-9D9B-E562EC81566E}"/>
              </a:ext>
            </a:extLst>
          </p:cNvPr>
          <p:cNvSpPr txBox="1"/>
          <p:nvPr/>
        </p:nvSpPr>
        <p:spPr>
          <a:xfrm>
            <a:off x="4465810" y="142043"/>
            <a:ext cx="3327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Transaktionen richtig Beschriften</a:t>
            </a: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1C27AC-E850-4E21-A694-45C276D8F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76" y="1740023"/>
            <a:ext cx="5546234" cy="33779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50DEB66-45D1-44E7-BB4D-88917A95DB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9795" y="1740023"/>
            <a:ext cx="5289213" cy="365293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6A96C5F-624F-4B45-A56D-C66A09E385DE}"/>
              </a:ext>
            </a:extLst>
          </p:cNvPr>
          <p:cNvSpPr txBox="1"/>
          <p:nvPr/>
        </p:nvSpPr>
        <p:spPr>
          <a:xfrm>
            <a:off x="1180731" y="1001412"/>
            <a:ext cx="2525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Schritt für Schritt </a:t>
            </a:r>
            <a:r>
              <a:rPr lang="de-DE" dirty="0" err="1"/>
              <a:t>tutorial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2E6207-4009-4EF3-AC4E-64278323987F}"/>
              </a:ext>
            </a:extLst>
          </p:cNvPr>
          <p:cNvSpPr txBox="1"/>
          <p:nvPr/>
        </p:nvSpPr>
        <p:spPr>
          <a:xfrm>
            <a:off x="7831585" y="1001412"/>
            <a:ext cx="2279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Vermeide diese Fehler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7009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B7E383E-0506-4DA3-A030-8E24F433252D}"/>
              </a:ext>
            </a:extLst>
          </p:cNvPr>
          <p:cNvSpPr txBox="1"/>
          <p:nvPr/>
        </p:nvSpPr>
        <p:spPr>
          <a:xfrm>
            <a:off x="4408615" y="159797"/>
            <a:ext cx="3374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Wann soll er stoppen zu scannen?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676664-69B5-4BFD-A0E6-DDE741E7077E}"/>
              </a:ext>
            </a:extLst>
          </p:cNvPr>
          <p:cNvSpPr txBox="1"/>
          <p:nvPr/>
        </p:nvSpPr>
        <p:spPr>
          <a:xfrm>
            <a:off x="5548544" y="781235"/>
            <a:ext cx="9595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de-DE" dirty="0"/>
              <a:t>CEX</a:t>
            </a:r>
          </a:p>
          <a:p>
            <a:pPr marL="342900" indent="-342900">
              <a:buAutoNum type="arabicPeriod"/>
            </a:pPr>
            <a:r>
              <a:rPr lang="de-DE" dirty="0" err="1"/>
              <a:t>Dust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F8BB1B-7CCF-4F86-8D49-1E5E7296A045}"/>
              </a:ext>
            </a:extLst>
          </p:cNvPr>
          <p:cNvSpPr txBox="1"/>
          <p:nvPr/>
        </p:nvSpPr>
        <p:spPr>
          <a:xfrm>
            <a:off x="5060272" y="2476870"/>
            <a:ext cx="2139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Andere Apis checken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18520F-5165-4714-84AF-9364ED3AF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285" y="3091222"/>
            <a:ext cx="3354083" cy="22018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7E0AC8-8381-4C19-A12F-E41CCA041F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1140" y="3326571"/>
            <a:ext cx="7650860" cy="1137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497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08839EC-C445-434B-B897-783336465715}"/>
              </a:ext>
            </a:extLst>
          </p:cNvPr>
          <p:cNvSpPr txBox="1"/>
          <p:nvPr/>
        </p:nvSpPr>
        <p:spPr>
          <a:xfrm>
            <a:off x="1225119" y="284085"/>
            <a:ext cx="1162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Dune </a:t>
            </a:r>
            <a:r>
              <a:rPr lang="de-DE" dirty="0" err="1"/>
              <a:t>Api</a:t>
            </a:r>
            <a:r>
              <a:rPr lang="de-DE" dirty="0"/>
              <a:t>: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D7F344-E00F-4C23-AFDF-A3879CFBAC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049" y="1171852"/>
            <a:ext cx="3775384" cy="3126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554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99E9BE-B283-46AA-9DB9-CD2867ADE7CB}"/>
              </a:ext>
            </a:extLst>
          </p:cNvPr>
          <p:cNvSpPr txBox="1"/>
          <p:nvPr/>
        </p:nvSpPr>
        <p:spPr>
          <a:xfrm>
            <a:off x="1286638" y="1851645"/>
            <a:ext cx="9618723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9900" dirty="0"/>
              <a:t>APIs </a:t>
            </a:r>
            <a:r>
              <a:rPr lang="de-DE" sz="19900" dirty="0" err="1"/>
              <a:t>new</a:t>
            </a:r>
            <a:endParaRPr lang="en-US" sz="19900" dirty="0"/>
          </a:p>
        </p:txBody>
      </p:sp>
    </p:spTree>
    <p:extLst>
      <p:ext uri="{BB962C8B-B14F-4D97-AF65-F5344CB8AC3E}">
        <p14:creationId xmlns:p14="http://schemas.microsoft.com/office/powerpoint/2010/main" val="3239152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9503CE-865B-484E-97DC-6B114BDAD2D1}"/>
              </a:ext>
            </a:extLst>
          </p:cNvPr>
          <p:cNvSpPr txBox="1"/>
          <p:nvPr/>
        </p:nvSpPr>
        <p:spPr>
          <a:xfrm>
            <a:off x="3488788" y="812410"/>
            <a:ext cx="627888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de-DE" dirty="0" err="1"/>
              <a:t>Coin</a:t>
            </a:r>
            <a:r>
              <a:rPr lang="de-DE" dirty="0"/>
              <a:t> </a:t>
            </a:r>
            <a:r>
              <a:rPr lang="de-DE" dirty="0" err="1"/>
              <a:t>market</a:t>
            </a:r>
            <a:r>
              <a:rPr lang="de-DE" dirty="0"/>
              <a:t> </a:t>
            </a:r>
            <a:r>
              <a:rPr lang="de-DE" dirty="0" err="1"/>
              <a:t>cap</a:t>
            </a:r>
            <a:r>
              <a:rPr lang="de-DE" dirty="0"/>
              <a:t> X</a:t>
            </a:r>
          </a:p>
          <a:p>
            <a:pPr marL="342900" indent="-342900">
              <a:buAutoNum type="arabicPeriod"/>
            </a:pPr>
            <a:r>
              <a:rPr lang="de-DE" dirty="0"/>
              <a:t>ICO Drops (Web </a:t>
            </a:r>
            <a:r>
              <a:rPr lang="de-DE" dirty="0" err="1"/>
              <a:t>scraping</a:t>
            </a:r>
            <a:r>
              <a:rPr lang="de-DE" dirty="0"/>
              <a:t>, Community-APIs auf </a:t>
            </a:r>
            <a:r>
              <a:rPr lang="de-DE" dirty="0" err="1"/>
              <a:t>github</a:t>
            </a:r>
            <a:r>
              <a:rPr lang="de-DE" dirty="0"/>
              <a:t>)</a:t>
            </a:r>
          </a:p>
          <a:p>
            <a:pPr marL="342900" indent="-342900">
              <a:buAutoNum type="arabicPeriod"/>
            </a:pPr>
            <a:r>
              <a:rPr lang="de-DE" dirty="0" err="1"/>
              <a:t>Launchapd</a:t>
            </a:r>
            <a:r>
              <a:rPr lang="de-DE" dirty="0"/>
              <a:t> APIs</a:t>
            </a:r>
          </a:p>
          <a:p>
            <a:r>
              <a:rPr lang="de-DE" dirty="0"/>
              <a:t>       </a:t>
            </a:r>
            <a:r>
              <a:rPr lang="de-DE" dirty="0" err="1"/>
              <a:t>Pinksale</a:t>
            </a:r>
            <a:r>
              <a:rPr lang="de-DE" dirty="0"/>
              <a:t>/</a:t>
            </a:r>
            <a:r>
              <a:rPr lang="de-DE" dirty="0" err="1"/>
              <a:t>Dxsale</a:t>
            </a:r>
            <a:r>
              <a:rPr lang="de-DE" dirty="0"/>
              <a:t>/</a:t>
            </a:r>
            <a:r>
              <a:rPr lang="de-DE" dirty="0" err="1"/>
              <a:t>Polkastarter</a:t>
            </a:r>
            <a:r>
              <a:rPr lang="de-DE" dirty="0"/>
              <a:t>/DAO Maker V</a:t>
            </a:r>
          </a:p>
          <a:p>
            <a:pPr marL="342900" indent="-342900">
              <a:buAutoNum type="arabicPeriod" startAt="5"/>
            </a:pPr>
            <a:r>
              <a:rPr lang="de-DE" dirty="0" err="1"/>
              <a:t>Coin</a:t>
            </a:r>
            <a:r>
              <a:rPr lang="de-DE" dirty="0"/>
              <a:t> </a:t>
            </a:r>
            <a:r>
              <a:rPr lang="de-DE" dirty="0" err="1"/>
              <a:t>Geko</a:t>
            </a:r>
            <a:r>
              <a:rPr lang="de-DE" dirty="0"/>
              <a:t>? X</a:t>
            </a:r>
          </a:p>
          <a:p>
            <a:pPr marL="342900" indent="-342900">
              <a:buAutoNum type="arabicPeriod" startAt="5"/>
            </a:pPr>
            <a:endParaRPr lang="de-DE" dirty="0"/>
          </a:p>
          <a:p>
            <a:r>
              <a:rPr lang="de-DE" dirty="0"/>
              <a:t>DEXSCREENER?</a:t>
            </a:r>
          </a:p>
          <a:p>
            <a:pPr marL="342900" indent="-342900">
              <a:buAutoNum type="arabicPeriod"/>
            </a:pPr>
            <a:endParaRPr lang="de-DE" dirty="0"/>
          </a:p>
          <a:p>
            <a:pPr marL="342900" indent="-34290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7537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266</Words>
  <Application>Microsoft Office PowerPoint</Application>
  <PresentationFormat>Widescreen</PresentationFormat>
  <Paragraphs>45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Mark</dc:creator>
  <cp:lastModifiedBy>Mark</cp:lastModifiedBy>
  <cp:revision>24</cp:revision>
  <dcterms:created xsi:type="dcterms:W3CDTF">2026-04-24T14:29:21Z</dcterms:created>
  <dcterms:modified xsi:type="dcterms:W3CDTF">2026-04-30T16:12:27Z</dcterms:modified>
</cp:coreProperties>
</file>